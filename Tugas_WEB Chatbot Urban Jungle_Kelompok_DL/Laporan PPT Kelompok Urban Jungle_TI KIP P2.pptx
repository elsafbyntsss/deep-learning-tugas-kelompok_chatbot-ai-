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35.png"/><Relationship Id="rId5" Type="http://schemas.openxmlformats.org/officeDocument/2006/relationships/image" Target="../media/image10.png"/><Relationship Id="rId6" Type="http://schemas.openxmlformats.org/officeDocument/2006/relationships/image" Target="../media/image4.png"/><Relationship Id="rId7" Type="http://schemas.openxmlformats.org/officeDocument/2006/relationships/image" Target="../media/image22.png"/><Relationship Id="rId8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9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1.png"/><Relationship Id="rId8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28.png"/><Relationship Id="rId6" Type="http://schemas.openxmlformats.org/officeDocument/2006/relationships/image" Target="../media/image4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5" Type="http://schemas.openxmlformats.org/officeDocument/2006/relationships/image" Target="../media/image42.png"/><Relationship Id="rId6" Type="http://schemas.openxmlformats.org/officeDocument/2006/relationships/image" Target="../media/image21.png"/><Relationship Id="rId7" Type="http://schemas.openxmlformats.org/officeDocument/2006/relationships/image" Target="../media/image46.png"/><Relationship Id="rId8" Type="http://schemas.openxmlformats.org/officeDocument/2006/relationships/image" Target="../media/image4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9" Type="http://schemas.openxmlformats.org/officeDocument/2006/relationships/image" Target="../media/image27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37.png"/><Relationship Id="rId5" Type="http://schemas.openxmlformats.org/officeDocument/2006/relationships/image" Target="../media/image4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8.png"/><Relationship Id="rId4" Type="http://schemas.openxmlformats.org/officeDocument/2006/relationships/image" Target="../media/image31.png"/><Relationship Id="rId5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3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41.png"/><Relationship Id="rId5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0" y="1523851"/>
            <a:ext cx="5715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2172146"/>
            <a:ext cx="5100637" cy="2043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3D405B"/>
                </a:solidFill>
                <a:latin typeface="Poppins"/>
                <a:ea typeface="Poppins"/>
                <a:cs typeface="Poppins"/>
                <a:sym typeface="Poppins"/>
              </a:rPr>
              <a:t>Urban Jungle: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75" u="none" cap="none" strike="noStrike">
                <a:solidFill>
                  <a:srgbClr val="3D405B"/>
                </a:solidFill>
                <a:latin typeface="Poppins"/>
                <a:ea typeface="Poppins"/>
                <a:cs typeface="Poppins"/>
                <a:sym typeface="Poppins"/>
              </a:rPr>
              <a:t> Toko Bunga Premium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405758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07A5F"/>
                </a:solidFill>
                <a:latin typeface="Lato"/>
                <a:ea typeface="Lato"/>
                <a:cs typeface="Lato"/>
                <a:sym typeface="Lato"/>
              </a:rPr>
              <a:t>Laporan Pengembangan Website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914304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1B29A"/>
                </a:solidFill>
                <a:latin typeface="Lato"/>
                <a:ea typeface="Lato"/>
                <a:cs typeface="Lato"/>
                <a:sym typeface="Lato"/>
              </a:rPr>
              <a:t>2025 • Sekolah Tinggi Manajemen Informatika dan Komputer STMIK IKMI Cirebon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81700" y="1600051"/>
            <a:ext cx="556260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76487"/>
            <a:ext cx="3492549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76487"/>
            <a:ext cx="3492549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76487"/>
            <a:ext cx="3492549" cy="32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44231" y="3481387"/>
            <a:ext cx="294708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81B29A"/>
                </a:solidFill>
                <a:latin typeface="Poppins"/>
                <a:ea typeface="Poppins"/>
                <a:cs typeface="Poppins"/>
                <a:sym typeface="Poppins"/>
              </a:rPr>
              <a:t>Elsa Febianti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14400" y="4062412"/>
            <a:ext cx="280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622530" y="3481387"/>
            <a:ext cx="2947087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81B29A"/>
                </a:solidFill>
                <a:latin typeface="Poppins"/>
                <a:ea typeface="Poppins"/>
                <a:cs typeface="Poppins"/>
                <a:sym typeface="Poppins"/>
              </a:rPr>
              <a:t>Dwi Retno Wulandari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692699" y="4500562"/>
            <a:ext cx="280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400830" y="3481387"/>
            <a:ext cx="294708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81B29A"/>
                </a:solidFill>
                <a:latin typeface="Poppins"/>
                <a:ea typeface="Poppins"/>
                <a:cs typeface="Poppins"/>
                <a:sym typeface="Poppins"/>
              </a:rPr>
              <a:t>Habibah Alya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470999" y="4062412"/>
            <a:ext cx="280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08150" y="2767012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86450" y="2767012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64749" y="2767012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3D405B"/>
                </a:solidFill>
                <a:latin typeface="Poppins"/>
                <a:ea typeface="Poppins"/>
                <a:cs typeface="Poppins"/>
                <a:sym typeface="Poppins"/>
              </a:rPr>
              <a:t>Anggota Kelompok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571500" y="1266825"/>
            <a:ext cx="11049000" cy="38100"/>
          </a:xfrm>
          <a:prstGeom prst="rect">
            <a:avLst/>
          </a:prstGeom>
          <a:solidFill>
            <a:srgbClr val="F2CC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9075" y="2280998"/>
            <a:ext cx="4191000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6334125" y="2638425"/>
            <a:ext cx="555069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81B29A"/>
                </a:solidFill>
                <a:latin typeface="Poppins"/>
                <a:ea typeface="Poppins"/>
                <a:cs typeface="Poppins"/>
                <a:sym typeface="Poppins"/>
              </a:rPr>
              <a:t>Digitalisasi UMKM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334125" y="321945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Website merupakan media krusial bagi bisnis toko bunga yang mengandalkan aspek visual dan estetika untuk menarik minat pelanggan.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334125" y="427672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Website </a:t>
            </a:r>
            <a:r>
              <a:rPr b="1" i="0" lang="en-US" sz="15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Urban Jungle</a:t>
            </a:r>
            <a:r>
              <a:rPr b="0" i="0" lang="en-US" sz="15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 dirancang menggunakan teknologi HTML, CSS, dan JS untuk menghadirkan pengalaman belanja bunga premium yang elegan dan interaktif.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D405B"/>
                </a:solidFill>
                <a:latin typeface="Poppins"/>
                <a:ea typeface="Poppins"/>
                <a:cs typeface="Poppins"/>
                <a:sym typeface="Poppins"/>
              </a:rPr>
              <a:t>Latar Belakang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71500" y="1266825"/>
            <a:ext cx="11049000" cy="38100"/>
          </a:xfrm>
          <a:prstGeom prst="rect">
            <a:avLst/>
          </a:prstGeom>
          <a:solidFill>
            <a:srgbClr val="F2CC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863" y="2873589"/>
            <a:ext cx="4559425" cy="325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43162"/>
            <a:ext cx="3492549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43162"/>
            <a:ext cx="3492549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43162"/>
            <a:ext cx="3492549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844231" y="3548062"/>
            <a:ext cx="294708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81B29A"/>
                </a:solidFill>
                <a:latin typeface="Poppins"/>
                <a:ea typeface="Poppins"/>
                <a:cs typeface="Poppins"/>
                <a:sym typeface="Poppins"/>
              </a:rPr>
              <a:t>Implementasi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14400" y="4129087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Menerapkan pengetahuan teoritis pemrograman web ke proyek nyata.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622530" y="3548062"/>
            <a:ext cx="294708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81B29A"/>
                </a:solidFill>
                <a:latin typeface="Poppins"/>
                <a:ea typeface="Poppins"/>
                <a:cs typeface="Poppins"/>
                <a:sym typeface="Poppins"/>
              </a:rPr>
              <a:t>Desain UI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692699" y="4129087"/>
            <a:ext cx="28067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Menciptakan tampilan responsif dan interaktif bagi pengguna.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400830" y="3548062"/>
            <a:ext cx="294708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81B29A"/>
                </a:solidFill>
                <a:latin typeface="Poppins"/>
                <a:ea typeface="Poppins"/>
                <a:cs typeface="Poppins"/>
                <a:sym typeface="Poppins"/>
              </a:rPr>
              <a:t>Cakupan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470999" y="4129087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Pengembangan frontend meliputi katalog, filter, keranjang, dan integrasi WhatsApp.</a:t>
            </a:r>
            <a:endParaRPr/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17662" y="2833687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283368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6174" y="283368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D405B"/>
                </a:solidFill>
                <a:latin typeface="Poppins"/>
                <a:ea typeface="Poppins"/>
                <a:cs typeface="Poppins"/>
                <a:sym typeface="Poppins"/>
              </a:rPr>
              <a:t>Tujuan &amp; Ruang Lingkup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71500" y="1266825"/>
            <a:ext cx="11049000" cy="38100"/>
          </a:xfrm>
          <a:prstGeom prst="rect">
            <a:avLst/>
          </a:prstGeom>
          <a:solidFill>
            <a:srgbClr val="F2CC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571500"/>
            <a:ext cx="75270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yang Digunakan</a:t>
            </a:r>
            <a:endParaRPr b="1" sz="3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150">
              <a:solidFill>
                <a:srgbClr val="3D405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571500" y="1266825"/>
            <a:ext cx="4953000" cy="38100"/>
          </a:xfrm>
          <a:prstGeom prst="rect">
            <a:avLst/>
          </a:prstGeom>
          <a:solidFill>
            <a:srgbClr val="F2CC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7" name="Google Shape;14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14668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571500" y="1685925"/>
            <a:ext cx="495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1000125" y="2286000"/>
            <a:ext cx="4524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500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HTML :</a:t>
            </a:r>
            <a:r>
              <a:rPr lang="en-US" sz="1500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 Membangun struktur konten halaman web yang standar.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1000125" y="3038475"/>
            <a:ext cx="4524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500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CSS :</a:t>
            </a:r>
            <a:r>
              <a:rPr lang="en-US" sz="1500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 Mengatur tata letak (Flexbox/Grid) dan desain responsif.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57657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1000125" y="3790950"/>
            <a:ext cx="4524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500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JavaScript:</a:t>
            </a:r>
            <a:r>
              <a:rPr lang="en-US" sz="1500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 Menangani logika interaksi dan fitur dinamis.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576574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152" name="Google Shape;15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488" y="237171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0038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909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54712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863775" y="4413625"/>
            <a:ext cx="4797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Groq API:</a:t>
            </a:r>
            <a:r>
              <a:rPr lang="en-US" sz="1500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 Integrasi Artificial Intelligence untuk layanan Chatbot.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17609" y="1024325"/>
            <a:ext cx="3466317" cy="519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571500" y="2938462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Diagram ini memvisualisasikan alur sistem dari sisi pengguna: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1000125" y="339566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Memuat halaman &amp; data produk.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1000125" y="384333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Filter kategori &amp; pemilihan produk.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1000125" y="42910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Manajemen Keranjang &amp; Checkout.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1000125" y="473868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Interaksi dengan Customer Service AI.</a:t>
            </a:r>
            <a:endParaRPr/>
          </a:p>
        </p:txBody>
      </p:sp>
      <p:pic>
        <p:nvPicPr>
          <p:cNvPr descr="image.png" id="168" name="Google Shape;16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337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814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3291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77678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D405B"/>
                </a:solidFill>
                <a:latin typeface="Poppins"/>
                <a:ea typeface="Poppins"/>
                <a:cs typeface="Poppins"/>
                <a:sym typeface="Poppins"/>
              </a:rPr>
              <a:t>Activity Diagram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571500" y="1266825"/>
            <a:ext cx="11049000" cy="38100"/>
          </a:xfrm>
          <a:prstGeom prst="rect">
            <a:avLst/>
          </a:prstGeom>
          <a:solidFill>
            <a:srgbClr val="F2CC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18"/>
          <p:cNvPicPr preferRelativeResize="0"/>
          <p:nvPr/>
        </p:nvPicPr>
        <p:blipFill rotWithShape="1">
          <a:blip r:embed="rId5">
            <a:alphaModFix/>
          </a:blip>
          <a:srcRect b="13262" l="0" r="0" t="0"/>
          <a:stretch/>
        </p:blipFill>
        <p:spPr>
          <a:xfrm>
            <a:off x="7035800" y="1589562"/>
            <a:ext cx="3543723" cy="483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85925"/>
            <a:ext cx="5286375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title="Use-Case-Diagram-Urban-Jungle-HighRes.png"/>
          <p:cNvPicPr preferRelativeResize="0"/>
          <p:nvPr/>
        </p:nvPicPr>
        <p:blipFill rotWithShape="1">
          <a:blip r:embed="rId5">
            <a:alphaModFix/>
          </a:blip>
          <a:srcRect b="1765" l="0" r="0" t="1765"/>
          <a:stretch/>
        </p:blipFill>
        <p:spPr>
          <a:xfrm>
            <a:off x="590550" y="1704975"/>
            <a:ext cx="5248276" cy="472439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6334125" y="3095625"/>
            <a:ext cx="555069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81B29A"/>
                </a:solidFill>
                <a:latin typeface="Poppins"/>
                <a:ea typeface="Poppins"/>
                <a:cs typeface="Poppins"/>
                <a:sym typeface="Poppins"/>
              </a:rPr>
              <a:t>Aktor &amp; Fungsi Utama: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762750" y="368617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Customer:</a:t>
            </a:r>
            <a:r>
              <a:rPr b="0" i="0" lang="en-US" sz="15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 Cari produk, Keranjang, Chatbot AI.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762750" y="413385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Admin:</a:t>
            </a:r>
            <a:r>
              <a:rPr b="0" i="0" lang="en-US" sz="15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 Kelola data pesanan &amp; laporan.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762750" y="458152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Chatbot AI:</a:t>
            </a:r>
            <a:r>
              <a:rPr b="0" i="0" lang="en-US" sz="15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 Rekomendasi produk &amp; Live Chat.</a:t>
            </a:r>
            <a:endParaRPr/>
          </a:p>
        </p:txBody>
      </p:sp>
      <p:pic>
        <p:nvPicPr>
          <p:cNvPr descr="image.png" id="186" name="Google Shape;18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7242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417195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4125" y="4619625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D405B"/>
                </a:solidFill>
                <a:latin typeface="Poppins"/>
                <a:ea typeface="Poppins"/>
                <a:cs typeface="Poppins"/>
                <a:sym typeface="Poppins"/>
              </a:rPr>
              <a:t>Use Case Diagram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571500" y="1266825"/>
            <a:ext cx="11049000" cy="38100"/>
          </a:xfrm>
          <a:prstGeom prst="rect">
            <a:avLst/>
          </a:prstGeom>
          <a:solidFill>
            <a:srgbClr val="F2CC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43162"/>
            <a:ext cx="3492549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43162"/>
            <a:ext cx="3492549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43162"/>
            <a:ext cx="3492549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844231" y="3548062"/>
            <a:ext cx="294708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81B29A"/>
                </a:solidFill>
                <a:latin typeface="Poppins"/>
                <a:ea typeface="Poppins"/>
                <a:cs typeface="Poppins"/>
                <a:sym typeface="Poppins"/>
              </a:rPr>
              <a:t>Start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914400" y="4129087"/>
            <a:ext cx="28067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Memuat struktur Header, Hero Section, dan data produk bunga.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4622530" y="3548062"/>
            <a:ext cx="294708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81B29A"/>
                </a:solidFill>
                <a:latin typeface="Poppins"/>
                <a:ea typeface="Poppins"/>
                <a:cs typeface="Poppins"/>
                <a:sym typeface="Poppins"/>
              </a:rPr>
              <a:t>Logic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4692699" y="4129087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Logika pemilihan kategori dan penambahan item ke dalam array Cart.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8400830" y="3548062"/>
            <a:ext cx="294708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81B29A"/>
                </a:solidFill>
                <a:latin typeface="Poppins"/>
                <a:ea typeface="Poppins"/>
                <a:cs typeface="Poppins"/>
                <a:sym typeface="Poppins"/>
              </a:rPr>
              <a:t>End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8470999" y="4129087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Finalisasi pesanan melalui formulir kontak atau bantuan Chatbot.</a:t>
            </a:r>
            <a:endParaRPr/>
          </a:p>
        </p:txBody>
      </p:sp>
      <p:pic>
        <p:nvPicPr>
          <p:cNvPr descr="image.png" id="205" name="Google Shape;20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36725" y="2833687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283368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64749" y="2833687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D405B"/>
                </a:solidFill>
                <a:latin typeface="Poppins"/>
                <a:ea typeface="Poppins"/>
                <a:cs typeface="Poppins"/>
                <a:sym typeface="Poppins"/>
              </a:rPr>
              <a:t>Alur Logika Flowchart</a:t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571500" y="1266825"/>
            <a:ext cx="11049000" cy="38100"/>
          </a:xfrm>
          <a:prstGeom prst="rect">
            <a:avLst/>
          </a:prstGeom>
          <a:solidFill>
            <a:srgbClr val="F2CC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571500" y="3081337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Memberikan jiwa pada elemen statis HTML: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1000125" y="353853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Manajemen state untuk keranjang belanja.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1000125" y="39862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Filter produk dinamis berdasarkan jenis bunga.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1000125" y="443388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Integrasi notifikasi interaktif pada ikon UI.</a:t>
            </a:r>
            <a:endParaRPr/>
          </a:p>
        </p:txBody>
      </p:sp>
      <p:pic>
        <p:nvPicPr>
          <p:cNvPr descr="image.png" id="219" name="Google Shape;21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766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243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471987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D405B"/>
                </a:solidFill>
                <a:latin typeface="Poppins"/>
                <a:ea typeface="Poppins"/>
                <a:cs typeface="Poppins"/>
                <a:sym typeface="Poppins"/>
              </a:rPr>
              <a:t>Interaktivitas (JavaScript)</a:t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571500" y="1266825"/>
            <a:ext cx="11049000" cy="38100"/>
          </a:xfrm>
          <a:prstGeom prst="rect">
            <a:avLst/>
          </a:prstGeom>
          <a:solidFill>
            <a:srgbClr val="F2CC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78175" y="1954625"/>
            <a:ext cx="6642324" cy="38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6334125" y="2638425"/>
            <a:ext cx="555069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81B29A"/>
                </a:solidFill>
                <a:latin typeface="Poppins"/>
                <a:ea typeface="Poppins"/>
                <a:cs typeface="Poppins"/>
                <a:sym typeface="Poppins"/>
              </a:rPr>
              <a:t>AI Customer Service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6334125" y="321945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Menggunakan Groq API untuk memproses instruksi Customer Service secara cerdas.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6762750" y="398145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Respons instan terhadap pertanyaan harga &amp; stok.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6762750" y="442912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Rekomendasi bunga berdasarkan kebutuhan acara.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6762750" y="487680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Memahami bahasa alami pengguna dengan sopan.</a:t>
            </a:r>
            <a:endParaRPr/>
          </a:p>
        </p:txBody>
      </p:sp>
      <p:pic>
        <p:nvPicPr>
          <p:cNvPr descr="image.png" id="235" name="Google Shape;23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40195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44672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91490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D405B"/>
                </a:solidFill>
                <a:latin typeface="Poppins"/>
                <a:ea typeface="Poppins"/>
                <a:cs typeface="Poppins"/>
                <a:sym typeface="Poppins"/>
              </a:rPr>
              <a:t>Layanan AI Chatbot</a:t>
            </a:r>
            <a:endParaRPr/>
          </a:p>
        </p:txBody>
      </p:sp>
      <p:sp>
        <p:nvSpPr>
          <p:cNvPr id="239" name="Google Shape;239;p22"/>
          <p:cNvSpPr/>
          <p:nvPr/>
        </p:nvSpPr>
        <p:spPr>
          <a:xfrm>
            <a:off x="571500" y="1266825"/>
            <a:ext cx="11049000" cy="38100"/>
          </a:xfrm>
          <a:prstGeom prst="rect">
            <a:avLst/>
          </a:prstGeom>
          <a:solidFill>
            <a:srgbClr val="F2CC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51599" y="1604875"/>
            <a:ext cx="4105550" cy="478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Hasil Antarmuka Urban Jungle</a:t>
            </a:r>
            <a:endParaRPr/>
          </a:p>
        </p:txBody>
      </p:sp>
      <p:sp>
        <p:nvSpPr>
          <p:cNvPr id="247" name="Google Shape;247;p23"/>
          <p:cNvSpPr/>
          <p:nvPr/>
        </p:nvSpPr>
        <p:spPr>
          <a:xfrm>
            <a:off x="571500" y="571500"/>
            <a:ext cx="76200" cy="6192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23"/>
          <p:cNvPicPr preferRelativeResize="0"/>
          <p:nvPr/>
        </p:nvPicPr>
        <p:blipFill rotWithShape="1">
          <a:blip r:embed="rId3">
            <a:alphaModFix/>
          </a:blip>
          <a:srcRect b="9043" l="2424" r="42969" t="12450"/>
          <a:stretch/>
        </p:blipFill>
        <p:spPr>
          <a:xfrm>
            <a:off x="571500" y="1713900"/>
            <a:ext cx="5532624" cy="447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3"/>
          <p:cNvSpPr txBox="1"/>
          <p:nvPr/>
        </p:nvSpPr>
        <p:spPr>
          <a:xfrm>
            <a:off x="6526475" y="1794975"/>
            <a:ext cx="30000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Fitur Utama UI: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0" name="Google Shape;250;p23"/>
          <p:cNvSpPr txBox="1"/>
          <p:nvPr/>
        </p:nvSpPr>
        <p:spPr>
          <a:xfrm>
            <a:off x="6820725" y="2341925"/>
            <a:ext cx="516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Hero Section dengan CTA "Explore N</a:t>
            </a:r>
            <a:r>
              <a:rPr lang="en-US" sz="1500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ow".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1" name="Google Shape;251;p23"/>
          <p:cNvSpPr txBox="1"/>
          <p:nvPr/>
        </p:nvSpPr>
        <p:spPr>
          <a:xfrm>
            <a:off x="6820725" y="2903575"/>
            <a:ext cx="4767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Produk Grid dengan kartu informasi lengkap.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6820725" y="3465225"/>
            <a:ext cx="6058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Notifikasi Counter pada ikon keranjang.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3" name="Google Shape;253;p23"/>
          <p:cNvSpPr txBox="1"/>
          <p:nvPr/>
        </p:nvSpPr>
        <p:spPr>
          <a:xfrm>
            <a:off x="6820725" y="4026875"/>
            <a:ext cx="5906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Floating Chat Button untuk akses AI.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mage.png" id="254" name="Google Shape;25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26475" y="24258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26475" y="29875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26475" y="35491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26475" y="4110812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2" name="Google Shape;2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4"/>
          <p:cNvSpPr txBox="1"/>
          <p:nvPr/>
        </p:nvSpPr>
        <p:spPr>
          <a:xfrm>
            <a:off x="2800350" y="3386125"/>
            <a:ext cx="770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Pemanfaatan HTML, CSS, dan JS berhasil menciptakan website bisnis yang fungsional.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2800350" y="3833812"/>
            <a:ext cx="7019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Integrasi Groq API memberikan dimensi baru dalam layanan pelanggan otomatis.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2800350" y="4281487"/>
            <a:ext cx="7019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Website Urban Jungle siap menjadi solusi digitalisasi UMKM Toko Bunga.</a:t>
            </a:r>
            <a:endParaRPr/>
          </a:p>
        </p:txBody>
      </p:sp>
      <p:pic>
        <p:nvPicPr>
          <p:cNvPr descr="image.png" id="266" name="Google Shape;26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71725" y="342423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71725" y="387191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71725" y="4319587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4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3D405B"/>
                </a:solidFill>
                <a:latin typeface="Poppins"/>
                <a:ea typeface="Poppins"/>
                <a:cs typeface="Poppins"/>
                <a:sym typeface="Poppins"/>
              </a:rPr>
              <a:t>Kesimpulan</a:t>
            </a:r>
            <a:endParaRPr/>
          </a:p>
        </p:txBody>
      </p:sp>
      <p:sp>
        <p:nvSpPr>
          <p:cNvPr id="270" name="Google Shape;270;p24"/>
          <p:cNvSpPr/>
          <p:nvPr/>
        </p:nvSpPr>
        <p:spPr>
          <a:xfrm>
            <a:off x="571500" y="1266825"/>
            <a:ext cx="11049000" cy="38100"/>
          </a:xfrm>
          <a:prstGeom prst="rect">
            <a:avLst/>
          </a:prstGeom>
          <a:solidFill>
            <a:srgbClr val="F2CC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89920"/>
            <a:ext cx="110490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00687" y="571500"/>
            <a:ext cx="11906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5"/>
          <p:cNvSpPr txBox="1"/>
          <p:nvPr/>
        </p:nvSpPr>
        <p:spPr>
          <a:xfrm>
            <a:off x="295275" y="180975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E07A5F"/>
                </a:solidFill>
                <a:latin typeface="Poppins"/>
                <a:ea typeface="Poppins"/>
                <a:cs typeface="Poppins"/>
                <a:sym typeface="Poppins"/>
              </a:rPr>
              <a:t>Ada Pertanyaan?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571500" y="295275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Terima kasih atas perhatian Anda. Urban Jungle - Keindahan dalam genggaman.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571500" y="419472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Kelompok Urban Jungle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571500" y="464239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76574"/>
                </a:solidFill>
                <a:latin typeface="Lato"/>
                <a:ea typeface="Lato"/>
                <a:cs typeface="Lato"/>
                <a:sym typeface="Lato"/>
              </a:rPr>
              <a:t>STMIK IKMI Cirebon - 2025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